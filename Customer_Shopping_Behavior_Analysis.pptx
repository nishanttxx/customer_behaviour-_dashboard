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22009"/>
            <a:ext cx="6429375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750" b="1" dirty="0">
                <a:solidFill>
                  <a:srgbClr val="F0E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Shopping Behavior Analysis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824962"/>
            <a:ext cx="800100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spc="1" kern="0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BI Case Study: From Raw Data to Actionable Dashboard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71500" y="3485759"/>
            <a:ext cx="338172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F0E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3664353"/>
            <a:ext cx="297453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2" kern="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NISHANTTXX / CUSTOMER_BEHAVIOUR-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3814372"/>
            <a:ext cx="102892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2" kern="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_DASHBOARD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38978" y="3485759"/>
            <a:ext cx="238394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F0E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238978" y="3664353"/>
            <a:ext cx="163139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2" kern="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ENGINEERING &amp;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238978" y="3814372"/>
            <a:ext cx="114082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2" kern="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908676" y="3485759"/>
            <a:ext cx="166382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F0E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908676" y="3664353"/>
            <a:ext cx="129815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2" kern="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| SQL |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908676" y="3814372"/>
            <a:ext cx="62156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2" kern="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700" y="428625"/>
            <a:ext cx="6229964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business question to dashboard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914525"/>
            <a:ext cx="1839516" cy="19931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914525"/>
            <a:ext cx="42863" cy="1993106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2200275"/>
            <a:ext cx="126801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01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57250" y="2428875"/>
            <a:ext cx="1268016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Brief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7250" y="2739628"/>
            <a:ext cx="1268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Defining the problem: understanding shopping patterns to drive retention and spend.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625328" y="1914525"/>
            <a:ext cx="1839516" cy="19931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2625328" y="1914525"/>
            <a:ext cx="42863" cy="1993106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1" name="Text 8"/>
          <p:cNvSpPr/>
          <p:nvPr/>
        </p:nvSpPr>
        <p:spPr>
          <a:xfrm>
            <a:off x="2911078" y="2200275"/>
            <a:ext cx="126801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02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11078" y="2428875"/>
            <a:ext cx="1268016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911078" y="2936081"/>
            <a:ext cx="1268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exploration and Python preprocessing to clean 3,900 customer records.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79156" y="1914525"/>
            <a:ext cx="1839516" cy="19931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4679156" y="1914525"/>
            <a:ext cx="42863" cy="1993106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6" name="Text 13"/>
          <p:cNvSpPr/>
          <p:nvPr/>
        </p:nvSpPr>
        <p:spPr>
          <a:xfrm>
            <a:off x="4964906" y="2200275"/>
            <a:ext cx="126801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03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964906" y="2428875"/>
            <a:ext cx="1268016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64906" y="2936081"/>
            <a:ext cx="1268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Notebook-based profiling of categories, seasons, and behavioral segments.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732984" y="1914525"/>
            <a:ext cx="1839516" cy="1993106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0" name="Shape 17"/>
          <p:cNvSpPr/>
          <p:nvPr/>
        </p:nvSpPr>
        <p:spPr>
          <a:xfrm>
            <a:off x="6732984" y="1914525"/>
            <a:ext cx="42863" cy="1993106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1" name="Text 18"/>
          <p:cNvSpPr/>
          <p:nvPr/>
        </p:nvSpPr>
        <p:spPr>
          <a:xfrm>
            <a:off x="7018734" y="2200275"/>
            <a:ext cx="126801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04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018734" y="2428875"/>
            <a:ext cx="1268016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E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 Delivery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018734" y="2739628"/>
            <a:ext cx="1268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Power BI dashboard for real-time stakeholder decision support.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700" y="428625"/>
            <a:ext cx="3773239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dataset at a glance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107281"/>
            <a:ext cx="1821656" cy="9751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2053828"/>
            <a:ext cx="1821656" cy="285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1321594"/>
            <a:ext cx="139303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3,900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85813" y="1725216"/>
            <a:ext cx="13930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RECORDS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536031" y="1107281"/>
            <a:ext cx="1821656" cy="9751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2536031" y="2053828"/>
            <a:ext cx="1821656" cy="285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0" name="Text 7"/>
          <p:cNvSpPr/>
          <p:nvPr/>
        </p:nvSpPr>
        <p:spPr>
          <a:xfrm>
            <a:off x="2750344" y="1321594"/>
            <a:ext cx="139303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2750344" y="1725216"/>
            <a:ext cx="13930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DIMENSIONS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71500" y="2196703"/>
            <a:ext cx="1821656" cy="9751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3143250"/>
            <a:ext cx="1821656" cy="285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4" name="Text 11"/>
          <p:cNvSpPr/>
          <p:nvPr/>
        </p:nvSpPr>
        <p:spPr>
          <a:xfrm>
            <a:off x="785813" y="2411016"/>
            <a:ext cx="139303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85813" y="2814638"/>
            <a:ext cx="13930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 LOCATIONS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536031" y="2196703"/>
            <a:ext cx="1821656" cy="9751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2536031" y="3143250"/>
            <a:ext cx="1821656" cy="285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8" name="Text 15"/>
          <p:cNvSpPr/>
          <p:nvPr/>
        </p:nvSpPr>
        <p:spPr>
          <a:xfrm>
            <a:off x="2750344" y="2411016"/>
            <a:ext cx="139303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2750344" y="2814638"/>
            <a:ext cx="13930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CATEGORIES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71500" y="3429000"/>
            <a:ext cx="37861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analysis covers a diverse customer base (Ages 18-70) across multiple behavioral segments, including subscription status, discount usage, and purchase frequency.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86313" y="1107281"/>
            <a:ext cx="3786188" cy="2060972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2" name="Text 19"/>
          <p:cNvSpPr/>
          <p:nvPr/>
        </p:nvSpPr>
        <p:spPr>
          <a:xfrm>
            <a:off x="5072063" y="1393031"/>
            <a:ext cx="321468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Dimensions for Analysis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72075" y="1725216"/>
            <a:ext cx="60141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0E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ID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22281" y="1725216"/>
            <a:ext cx="67910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0E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 &amp; Gender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172075" y="1932384"/>
            <a:ext cx="77426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0E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&amp; Category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822281" y="1932384"/>
            <a:ext cx="84586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0E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Amount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172075" y="2139553"/>
            <a:ext cx="40518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0E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Location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822281" y="2139553"/>
            <a:ext cx="59555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0E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 &amp; Color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172075" y="2346722"/>
            <a:ext cx="3634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0E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Season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22281" y="2346722"/>
            <a:ext cx="69087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0E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Rating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72075" y="2553891"/>
            <a:ext cx="92327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0E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Status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822281" y="2553891"/>
            <a:ext cx="67726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0E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Shipping Type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172075" y="2761059"/>
            <a:ext cx="79825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0E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Applied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822281" y="2761059"/>
            <a:ext cx="81009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0E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Method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700" y="428625"/>
            <a:ext cx="6498859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baseline: a $233K customer sample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664494"/>
            <a:ext cx="2478435" cy="13608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64494"/>
            <a:ext cx="2478435" cy="571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1950244"/>
            <a:ext cx="1906935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$233,081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857250" y="2532459"/>
            <a:ext cx="190693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spc="1" kern="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335685" y="1664494"/>
            <a:ext cx="2475533" cy="13608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3335685" y="1664494"/>
            <a:ext cx="2475533" cy="571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0" name="Text 7"/>
          <p:cNvSpPr/>
          <p:nvPr/>
        </p:nvSpPr>
        <p:spPr>
          <a:xfrm>
            <a:off x="3621435" y="1950244"/>
            <a:ext cx="1904033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$59.76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3621435" y="2532459"/>
            <a:ext cx="190403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spc="1" kern="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AVG. PURCHASE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96967" y="1664494"/>
            <a:ext cx="2475533" cy="13608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6967" y="1664494"/>
            <a:ext cx="2475533" cy="5715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4" name="Text 11"/>
          <p:cNvSpPr/>
          <p:nvPr/>
        </p:nvSpPr>
        <p:spPr>
          <a:xfrm>
            <a:off x="6382717" y="1978819"/>
            <a:ext cx="1904033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3.75 / 5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6382717" y="2561034"/>
            <a:ext cx="190403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spc="1" kern="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AVG. REVIEW RATING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71500" y="3425428"/>
            <a:ext cx="1893094" cy="703659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7" name="Text 14"/>
          <p:cNvSpPr/>
          <p:nvPr/>
        </p:nvSpPr>
        <p:spPr>
          <a:xfrm>
            <a:off x="742950" y="3596878"/>
            <a:ext cx="1550194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68%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42950" y="3857625"/>
            <a:ext cx="155019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F0EAD6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Male Demographic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2607469" y="3425428"/>
            <a:ext cx="1893094" cy="703659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0" name="Text 17"/>
          <p:cNvSpPr/>
          <p:nvPr/>
        </p:nvSpPr>
        <p:spPr>
          <a:xfrm>
            <a:off x="2778919" y="3596878"/>
            <a:ext cx="1550194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27%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778919" y="3857625"/>
            <a:ext cx="155019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F0EAD6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Subscribers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4643438" y="3425428"/>
            <a:ext cx="1893094" cy="703659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3" name="Text 20"/>
          <p:cNvSpPr/>
          <p:nvPr/>
        </p:nvSpPr>
        <p:spPr>
          <a:xfrm>
            <a:off x="4814888" y="3596878"/>
            <a:ext cx="1550194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43%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14888" y="3857625"/>
            <a:ext cx="155019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F0EAD6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Usage</a:t>
            </a:r>
            <a:endParaRPr lang="en-US" sz="600" dirty="0"/>
          </a:p>
        </p:txBody>
      </p:sp>
      <p:sp>
        <p:nvSpPr>
          <p:cNvPr id="25" name="Shape 22"/>
          <p:cNvSpPr/>
          <p:nvPr/>
        </p:nvSpPr>
        <p:spPr>
          <a:xfrm>
            <a:off x="6679406" y="3425428"/>
            <a:ext cx="1893094" cy="703659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6" name="Text 23"/>
          <p:cNvSpPr/>
          <p:nvPr/>
        </p:nvSpPr>
        <p:spPr>
          <a:xfrm>
            <a:off x="6850856" y="3596878"/>
            <a:ext cx="1550194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43%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850856" y="3857625"/>
            <a:ext cx="155019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F0EAD6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 Code Adoption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700" y="428625"/>
            <a:ext cx="4801772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Clothing carries the business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482328"/>
            <a:ext cx="3786188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82328"/>
            <a:ext cx="57150" cy="2857500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696641"/>
            <a:ext cx="3300413" cy="2428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86313" y="1628775"/>
            <a:ext cx="1469213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255525" y="1628775"/>
            <a:ext cx="947551" cy="29289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7203077" y="1628775"/>
            <a:ext cx="1369423" cy="2928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SPEND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4786313" y="1921669"/>
            <a:ext cx="1469213" cy="389334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Clothing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255525" y="1921669"/>
            <a:ext cx="947551" cy="389334"/>
          </a:xfrm>
          <a:prstGeom prst="rect">
            <a:avLst/>
          </a:prstGeom>
          <a:noFill/>
          <a:ln/>
        </p:spPr>
        <p:txBody>
          <a:bodyPr wrap="none" lIns="102108" tIns="136017" rIns="102108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1,737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203077" y="1921669"/>
            <a:ext cx="1369423" cy="389334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$104,264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786313" y="2311003"/>
            <a:ext cx="1469213" cy="385763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Accessories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255525" y="2311003"/>
            <a:ext cx="947551" cy="385763"/>
          </a:xfrm>
          <a:prstGeom prst="rect">
            <a:avLst/>
          </a:prstGeom>
          <a:noFill/>
          <a:ln/>
        </p:spPr>
        <p:txBody>
          <a:bodyPr wrap="none" lIns="102108" tIns="136017" rIns="102108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1,240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203077" y="2311003"/>
            <a:ext cx="1369423" cy="385763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$74,200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786313" y="2696766"/>
            <a:ext cx="1469213" cy="385763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Footwear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255525" y="2696766"/>
            <a:ext cx="947551" cy="385763"/>
          </a:xfrm>
          <a:prstGeom prst="rect">
            <a:avLst/>
          </a:prstGeom>
          <a:noFill/>
          <a:ln/>
        </p:spPr>
        <p:txBody>
          <a:bodyPr wrap="none" lIns="102108" tIns="136017" rIns="102108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599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203077" y="2696766"/>
            <a:ext cx="1369423" cy="385763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$36,093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786313" y="3082528"/>
            <a:ext cx="1469213" cy="382191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Outerwear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255525" y="3082528"/>
            <a:ext cx="947551" cy="382191"/>
          </a:xfrm>
          <a:prstGeom prst="rect">
            <a:avLst/>
          </a:prstGeom>
          <a:noFill/>
          <a:ln/>
        </p:spPr>
        <p:txBody>
          <a:bodyPr wrap="none" lIns="102108" tIns="136017" rIns="102108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324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203077" y="3082528"/>
            <a:ext cx="1369423" cy="382191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$18,524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786313" y="3679031"/>
            <a:ext cx="37861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Clothing accounts for </a:t>
            </a:r>
            <a:r>
              <a:rPr lang="en-US" sz="80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44.7%</a:t>
            </a:r>
            <a:r>
              <a:rPr lang="en-US" sz="8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total volume and </a:t>
            </a:r>
            <a:r>
              <a:rPr lang="en-US" sz="80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44.5%</a:t>
            </a:r>
            <a:r>
              <a:rPr lang="en-US" sz="8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revenue, </a:t>
            </a:r>
            <a:r>
              <a:rPr lang="en-US" sz="8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maintaining a consistent average spend of ~$60 across all major </a:t>
            </a:r>
            <a:r>
              <a:rPr lang="en-US" sz="8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700" y="428625"/>
            <a:ext cx="5964585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strongest signals are behavioral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107281"/>
            <a:ext cx="4543425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07281"/>
            <a:ext cx="4543425" cy="57150"/>
          </a:xfrm>
          <a:prstGeom prst="rect">
            <a:avLst/>
          </a:prstGeom>
          <a:solidFill>
            <a:srgbClr val="0A192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393031"/>
            <a:ext cx="3971925" cy="22288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0" y="1107281"/>
            <a:ext cx="285750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Parity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715000" y="1325166"/>
            <a:ext cx="2857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Subscribers spend $59.49 on average vs $59.86 for non-subscribers, suggesting subscription is a convenience play rather than a high-spend driver.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5715000" y="2010966"/>
            <a:ext cx="285750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Seasonal Stability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715000" y="22288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volume is remarkably stable across seasons, with Spring (999) and Fall (975) leading slightly.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5715000" y="2743200"/>
            <a:ext cx="285750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Preferences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715000" y="2961084"/>
            <a:ext cx="2857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PayPal and Credit Cards lead, but the split is nearly even across 6 methods, indicating a flexible checkout is critical.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700" y="428625"/>
            <a:ext cx="4667994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dashboard enables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107281"/>
            <a:ext cx="3786188" cy="3607594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Shape 2"/>
          <p:cNvSpPr/>
          <p:nvPr/>
        </p:nvSpPr>
        <p:spPr>
          <a:xfrm>
            <a:off x="857250" y="1393031"/>
            <a:ext cx="342900" cy="34290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1393031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343025" y="1393031"/>
            <a:ext cx="272891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Segmentation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343025" y="1610916"/>
            <a:ext cx="27289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Age, Gender, and Location to identify high-value pockets instantly.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57250" y="2125266"/>
            <a:ext cx="342900" cy="34290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0" name="Text 7"/>
          <p:cNvSpPr/>
          <p:nvPr/>
        </p:nvSpPr>
        <p:spPr>
          <a:xfrm>
            <a:off x="857250" y="2125266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43025" y="2125266"/>
            <a:ext cx="272891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Retention Tracking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343025" y="2343150"/>
            <a:ext cx="27289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 subscription vs. non-subscription spend trends to evaluate loyalty programs.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57250" y="2857500"/>
            <a:ext cx="342900" cy="34290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4" name="Text 11"/>
          <p:cNvSpPr/>
          <p:nvPr/>
        </p:nvSpPr>
        <p:spPr>
          <a:xfrm>
            <a:off x="857250" y="2857500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343025" y="2857500"/>
            <a:ext cx="272891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Optimization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343025" y="3075384"/>
            <a:ext cx="27289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Cross-reference Season and Category to predict stock needs for upcoming cycles.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786313" y="1107281"/>
            <a:ext cx="3786188" cy="3607594"/>
          </a:xfrm>
          <a:prstGeom prst="rect">
            <a:avLst/>
          </a:prstGeom>
          <a:solidFill>
            <a:srgbClr val="FFFFFF"/>
          </a:solidFill>
          <a:ln w="18288">
            <a:solidFill>
              <a:srgbClr val="CBD5E0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072063" y="2557463"/>
            <a:ext cx="321468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Integration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72063" y="2868216"/>
            <a:ext cx="3214688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.pbix file in the repository provides the interactive layer for these capabilities, connecting the SQL-processed data to visual KPIs.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211" y="1444823"/>
            <a:ext cx="7519522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0E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solid foundation for the next decision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1714500" y="2077045"/>
            <a:ext cx="5715000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project demonstrates a complete analytics lifecycle, turning raw shopping data into a structured asset for business intelligence.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1143000" y="2898577"/>
            <a:ext cx="2143125" cy="112871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64FFDA">
                <a:alpha val="2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57313" y="3112889"/>
            <a:ext cx="17145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357313" y="3348633"/>
            <a:ext cx="1714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live sales feeds to move from static analysis to real-time monitoring.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500438" y="2898577"/>
            <a:ext cx="2143125" cy="112871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64FFDA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14750" y="3112889"/>
            <a:ext cx="17145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714750" y="3348633"/>
            <a:ext cx="1714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ML models to the cleaned dataset to forecast individual customer LTV.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57875" y="2898577"/>
            <a:ext cx="2143125" cy="112871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64FFDA">
                <a:alpha val="2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72188" y="3120033"/>
            <a:ext cx="17145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FF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72188" y="3355777"/>
            <a:ext cx="1714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2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targeted A/B tests for the identified "Subscription Parity" segment.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2026-09-13T11:00:01Z</dcterms:created>
  <dcterms:modified xsi:type="dcterms:W3CDTF">2026-09-13T11:00:01Z</dcterms:modified>
</cp:coreProperties>
</file>